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6" r:id="rId9"/>
    <p:sldId id="275" r:id="rId10"/>
    <p:sldId id="267" r:id="rId11"/>
    <p:sldId id="276" r:id="rId12"/>
    <p:sldId id="272" r:id="rId13"/>
    <p:sldId id="273" r:id="rId14"/>
    <p:sldId id="274" r:id="rId15"/>
  </p:sldIdLst>
  <p:sldSz cx="12192000" cy="6858000"/>
  <p:notesSz cx="6858000" cy="9144000"/>
  <p:embeddedFontLst>
    <p:embeddedFont>
      <p:font typeface="Inter" panose="020B0604020202020204" charset="0"/>
      <p:regular r:id="rId17"/>
      <p:bold r:id="rId18"/>
      <p:italic r:id="rId19"/>
      <p:boldItalic r:id="rId20"/>
    </p:embeddedFon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Play" panose="020B0604020202020204" charset="0"/>
      <p:regular r:id="rId25"/>
      <p:bold r:id="rId26"/>
    </p:embeddedFont>
    <p:embeddedFont>
      <p:font typeface="Plus Jakarta Sans" panose="020B060402020202020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4" roundtripDataSignature="AMtx7mi4BMo1qyCT07pB+q1cHUJe4z3s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884" autoAdjust="0"/>
  </p:normalViewPr>
  <p:slideViewPr>
    <p:cSldViewPr snapToGrid="0">
      <p:cViewPr varScale="1">
        <p:scale>
          <a:sx n="73" d="100"/>
          <a:sy n="73" d="100"/>
        </p:scale>
        <p:origin x="59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" name="Google Shape;3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" name="Google Shape;4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5" name="Google Shape;6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5" name="Google Shape;7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787822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5" name="Google Shape;15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6" name="Google Shape;16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974276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2" name="Google Shape;212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3" name="Google Shape;223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4" name="Google Shape;23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Title Slide">
  <p:cSld name="7_Title Slid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>
            <a:spLocks noGrp="1"/>
          </p:cNvSpPr>
          <p:nvPr>
            <p:ph type="pic" idx="2"/>
          </p:nvPr>
        </p:nvSpPr>
        <p:spPr>
          <a:xfrm>
            <a:off x="1055687" y="1268413"/>
            <a:ext cx="4319586" cy="5040312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0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5_Title Slide">
  <p:cSld name="25_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8_Title Slide">
  <p:cSld name="28_Title Slid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9_Title Slide">
  <p:cSld name="29_Title Slid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0_Title Slide">
  <p:cSld name="30_Title Slid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1_Title Slide">
  <p:cSld name="31_Title Slid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5"/>
          <p:cNvSpPr>
            <a:spLocks noGrp="1"/>
          </p:cNvSpPr>
          <p:nvPr>
            <p:ph type="pic" idx="2"/>
          </p:nvPr>
        </p:nvSpPr>
        <p:spPr>
          <a:xfrm>
            <a:off x="-1" y="0"/>
            <a:ext cx="9696450" cy="4868863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2_Title Slide">
  <p:cSld name="32_Title Slid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/>
          <p:nvPr/>
        </p:nvSpPr>
        <p:spPr>
          <a:xfrm>
            <a:off x="6096000" y="3753134"/>
            <a:ext cx="6096000" cy="2555591"/>
          </a:xfrm>
          <a:prstGeom prst="rect">
            <a:avLst/>
          </a:prstGeom>
          <a:gradFill>
            <a:gsLst>
              <a:gs pos="0">
                <a:schemeClr val="accent2"/>
              </a:gs>
              <a:gs pos="96000">
                <a:srgbClr val="EA641A"/>
              </a:gs>
              <a:gs pos="100000">
                <a:srgbClr val="EA641A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3" name="Google Shape;23;p16"/>
          <p:cNvSpPr>
            <a:spLocks noGrp="1"/>
          </p:cNvSpPr>
          <p:nvPr>
            <p:ph type="pic" idx="2"/>
          </p:nvPr>
        </p:nvSpPr>
        <p:spPr>
          <a:xfrm>
            <a:off x="6816725" y="1268413"/>
            <a:ext cx="2381023" cy="297693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4" name="Google Shape;24;p16"/>
          <p:cNvSpPr>
            <a:spLocks noGrp="1"/>
          </p:cNvSpPr>
          <p:nvPr>
            <p:ph type="pic" idx="3"/>
          </p:nvPr>
        </p:nvSpPr>
        <p:spPr>
          <a:xfrm>
            <a:off x="9476015" y="1268413"/>
            <a:ext cx="2381023" cy="297693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3_Title Slide">
  <p:cSld name="33_Title Slid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7"/>
          <p:cNvSpPr>
            <a:spLocks noGrp="1"/>
          </p:cNvSpPr>
          <p:nvPr>
            <p:ph type="pic" idx="2"/>
          </p:nvPr>
        </p:nvSpPr>
        <p:spPr>
          <a:xfrm>
            <a:off x="-1" y="549274"/>
            <a:ext cx="4995082" cy="575945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4_Title Slide">
  <p:cSld name="34_Title Slide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>
            <a:spLocks noGrp="1"/>
          </p:cNvSpPr>
          <p:nvPr>
            <p:ph type="pic" idx="2"/>
          </p:nvPr>
        </p:nvSpPr>
        <p:spPr>
          <a:xfrm>
            <a:off x="6095999" y="1270000"/>
            <a:ext cx="6096001" cy="4319588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4C9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799">
          <p15:clr>
            <a:srgbClr val="A4A3A4"/>
          </p15:clr>
        </p15:guide>
        <p15:guide id="4" orient="horz" pos="346">
          <p15:clr>
            <a:srgbClr val="A4A3A4"/>
          </p15:clr>
        </p15:guide>
        <p15:guide id="5" orient="horz" pos="1253">
          <p15:clr>
            <a:srgbClr val="A4A3A4"/>
          </p15:clr>
        </p15:guide>
        <p15:guide id="6" orient="horz" pos="1706">
          <p15:clr>
            <a:srgbClr val="A4A3A4"/>
          </p15:clr>
        </p15:guide>
        <p15:guide id="7" orient="horz" pos="2614">
          <p15:clr>
            <a:srgbClr val="A4A3A4"/>
          </p15:clr>
        </p15:guide>
        <p15:guide id="8" orient="horz" pos="3067">
          <p15:clr>
            <a:srgbClr val="A4A3A4"/>
          </p15:clr>
        </p15:guide>
        <p15:guide id="9" orient="horz" pos="3521">
          <p15:clr>
            <a:srgbClr val="A4A3A4"/>
          </p15:clr>
        </p15:guide>
        <p15:guide id="10" orient="horz" pos="3974">
          <p15:clr>
            <a:srgbClr val="A4A3A4"/>
          </p15:clr>
        </p15:guide>
        <p15:guide id="11" pos="4294">
          <p15:clr>
            <a:srgbClr val="A4A3A4"/>
          </p15:clr>
        </p15:guide>
        <p15:guide id="12" pos="4747">
          <p15:clr>
            <a:srgbClr val="A4A3A4"/>
          </p15:clr>
        </p15:guide>
        <p15:guide id="13" pos="211">
          <p15:clr>
            <a:srgbClr val="A4A3A4"/>
          </p15:clr>
        </p15:guide>
        <p15:guide id="14" pos="665">
          <p15:clr>
            <a:srgbClr val="A4A3A4"/>
          </p15:clr>
        </p15:guide>
        <p15:guide id="15" pos="1118">
          <p15:clr>
            <a:srgbClr val="A4A3A4"/>
          </p15:clr>
        </p15:guide>
        <p15:guide id="16" pos="1572">
          <p15:clr>
            <a:srgbClr val="A4A3A4"/>
          </p15:clr>
        </p15:guide>
        <p15:guide id="17" pos="2026">
          <p15:clr>
            <a:srgbClr val="A4A3A4"/>
          </p15:clr>
        </p15:guide>
        <p15:guide id="18" pos="2479">
          <p15:clr>
            <a:srgbClr val="A4A3A4"/>
          </p15:clr>
        </p15:guide>
        <p15:guide id="19" pos="2933">
          <p15:clr>
            <a:srgbClr val="A4A3A4"/>
          </p15:clr>
        </p15:guide>
        <p15:guide id="20" pos="3386">
          <p15:clr>
            <a:srgbClr val="A4A3A4"/>
          </p15:clr>
        </p15:guide>
        <p15:guide id="21" pos="5201">
          <p15:clr>
            <a:srgbClr val="A4A3A4"/>
          </p15:clr>
        </p15:guide>
        <p15:guide id="22" pos="5654">
          <p15:clr>
            <a:srgbClr val="A4A3A4"/>
          </p15:clr>
        </p15:guide>
        <p15:guide id="23" pos="6108">
          <p15:clr>
            <a:srgbClr val="A4A3A4"/>
          </p15:clr>
        </p15:guide>
        <p15:guide id="24" pos="6562">
          <p15:clr>
            <a:srgbClr val="A4A3A4"/>
          </p15:clr>
        </p15:guide>
        <p15:guide id="25" pos="7015">
          <p15:clr>
            <a:srgbClr val="A4A3A4"/>
          </p15:clr>
        </p15:guide>
        <p15:guide id="26" pos="7469">
          <p15:clr>
            <a:srgbClr val="A4A3A4"/>
          </p15:clr>
        </p15:guide>
        <p15:guide id="27" pos="347">
          <p15:clr>
            <a:srgbClr val="F26B43"/>
          </p15:clr>
        </p15:guide>
        <p15:guide id="28" pos="733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"/>
          <p:cNvSpPr/>
          <p:nvPr/>
        </p:nvSpPr>
        <p:spPr>
          <a:xfrm>
            <a:off x="747687" y="2819865"/>
            <a:ext cx="973969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 Sharpening Using Knowledge Distillation</a:t>
            </a:r>
            <a:endParaRPr sz="3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4" name="Google Shape;34;p1"/>
          <p:cNvGrpSpPr/>
          <p:nvPr/>
        </p:nvGrpSpPr>
        <p:grpSpPr>
          <a:xfrm>
            <a:off x="894442" y="2675335"/>
            <a:ext cx="5512708" cy="940767"/>
            <a:chOff x="894442" y="2675335"/>
            <a:chExt cx="7570108" cy="940767"/>
          </a:xfrm>
        </p:grpSpPr>
        <p:sp>
          <p:nvSpPr>
            <p:cNvPr id="35" name="Google Shape;35;p1"/>
            <p:cNvSpPr/>
            <p:nvPr/>
          </p:nvSpPr>
          <p:spPr>
            <a:xfrm>
              <a:off x="894442" y="2675335"/>
              <a:ext cx="7570108" cy="45719"/>
            </a:xfrm>
            <a:prstGeom prst="rect">
              <a:avLst/>
            </a:prstGeom>
            <a:solidFill>
              <a:srgbClr val="A5825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6" name="Google Shape;36;p1"/>
            <p:cNvSpPr/>
            <p:nvPr/>
          </p:nvSpPr>
          <p:spPr>
            <a:xfrm>
              <a:off x="894442" y="3570383"/>
              <a:ext cx="7570108" cy="45719"/>
            </a:xfrm>
            <a:prstGeom prst="rect">
              <a:avLst/>
            </a:prstGeom>
            <a:solidFill>
              <a:srgbClr val="A5825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37" name="Google Shape;37;p1"/>
          <p:cNvSpPr txBox="1"/>
          <p:nvPr/>
        </p:nvSpPr>
        <p:spPr>
          <a:xfrm>
            <a:off x="747687" y="5133848"/>
            <a:ext cx="2692725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INDLA ABHISHEK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BU22CSEN0101761</a:t>
            </a:r>
            <a:endParaRPr sz="1800" b="0" i="0" u="none" strike="noStrike" cap="none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" name="Google Shape;38;p1"/>
          <p:cNvSpPr txBox="1"/>
          <p:nvPr/>
        </p:nvSpPr>
        <p:spPr>
          <a:xfrm>
            <a:off x="434411" y="6230138"/>
            <a:ext cx="478980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Open Sans"/>
              <a:buNone/>
            </a:pPr>
            <a:r>
              <a:rPr lang="en-US" sz="1800" b="0" i="0" u="none" strike="noStrike" cap="none">
                <a:solidFill>
                  <a:srgbClr val="7F7F7F"/>
                </a:solidFill>
                <a:latin typeface="Inter"/>
                <a:ea typeface="Inter"/>
                <a:cs typeface="Inter"/>
                <a:sym typeface="Inter"/>
              </a:rPr>
              <a:t>Dept of Computer Science &amp; Engineering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39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57588" y="5780138"/>
            <a:ext cx="2100001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1"/>
          <p:cNvSpPr txBox="1"/>
          <p:nvPr/>
        </p:nvSpPr>
        <p:spPr>
          <a:xfrm>
            <a:off x="5845790" y="3861291"/>
            <a:ext cx="246581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INTERNSHIP 2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1" i="1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/>
          <p:nvPr/>
        </p:nvSpPr>
        <p:spPr>
          <a:xfrm>
            <a:off x="3392802" y="692772"/>
            <a:ext cx="47898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 dirty="0">
                <a:solidFill>
                  <a:srgbClr val="007367"/>
                </a:solidFill>
                <a:latin typeface="Inter"/>
                <a:ea typeface="Inter"/>
                <a:cs typeface="Inter"/>
                <a:sym typeface="Inter"/>
              </a:rPr>
              <a:t>Abstract</a:t>
            </a:r>
            <a:endParaRPr sz="1400" b="0" i="0" u="none" strike="noStrike" cap="none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" name="Google Shape;46;p19"/>
          <p:cNvSpPr txBox="1"/>
          <p:nvPr/>
        </p:nvSpPr>
        <p:spPr>
          <a:xfrm>
            <a:off x="434411" y="6230138"/>
            <a:ext cx="4789808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7F7F7F"/>
                </a:solidFill>
                <a:latin typeface="Inter"/>
                <a:ea typeface="Inter"/>
                <a:cs typeface="Inter"/>
                <a:sym typeface="Inter"/>
              </a:rPr>
              <a:t>Dept of Computer Science &amp; Engineering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Open Sans"/>
              <a:buNone/>
            </a:pPr>
            <a:endParaRPr sz="1800" b="0" i="0" u="none" strike="noStrike" cap="none">
              <a:solidFill>
                <a:srgbClr val="7F7F7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7" name="Google Shape;47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57588" y="5780138"/>
            <a:ext cx="2100001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9"/>
          <p:cNvSpPr txBox="1"/>
          <p:nvPr/>
        </p:nvSpPr>
        <p:spPr>
          <a:xfrm>
            <a:off x="690770" y="1575904"/>
            <a:ext cx="10571922" cy="4417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19"/>
          <p:cNvSpPr txBox="1"/>
          <p:nvPr/>
        </p:nvSpPr>
        <p:spPr>
          <a:xfrm>
            <a:off x="812202" y="1537902"/>
            <a:ext cx="10209134" cy="4848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19"/>
          <p:cNvSpPr txBox="1"/>
          <p:nvPr/>
        </p:nvSpPr>
        <p:spPr>
          <a:xfrm>
            <a:off x="1639966" y="1168400"/>
            <a:ext cx="10209134" cy="4848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19"/>
          <p:cNvSpPr txBox="1"/>
          <p:nvPr/>
        </p:nvSpPr>
        <p:spPr>
          <a:xfrm>
            <a:off x="812201" y="1575904"/>
            <a:ext cx="10209135" cy="4261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builds a lightweight image sharpening system using knowledge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distillation. A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model called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SwinIR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(Teacher) trains a smaller CNN model (Student) to sharpen blurred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images. It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achieves clear results with a Structural Similarity Index (SSIM) above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0.9.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is built using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to make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suitable for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low-power devices.</a:t>
            </a:r>
            <a:endParaRPr sz="240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"/>
          <p:cNvSpPr txBox="1"/>
          <p:nvPr/>
        </p:nvSpPr>
        <p:spPr>
          <a:xfrm>
            <a:off x="3288299" y="285268"/>
            <a:ext cx="47898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007367"/>
                </a:solidFill>
                <a:latin typeface="Inter"/>
                <a:ea typeface="Inter"/>
                <a:cs typeface="Inter"/>
                <a:sym typeface="Inter"/>
              </a:rPr>
              <a:t>Certificate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" name="Google Shape;57;p2"/>
          <p:cNvSpPr txBox="1"/>
          <p:nvPr/>
        </p:nvSpPr>
        <p:spPr>
          <a:xfrm>
            <a:off x="434411" y="6230138"/>
            <a:ext cx="4789808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7F7F7F"/>
                </a:solidFill>
                <a:latin typeface="Inter"/>
                <a:ea typeface="Inter"/>
                <a:cs typeface="Inter"/>
                <a:sym typeface="Inter"/>
              </a:rPr>
              <a:t>Dept of Computer Science &amp; Engineering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Open Sans"/>
              <a:buNone/>
            </a:pPr>
            <a:endParaRPr sz="1800" b="0" i="0" u="none" strike="noStrike" cap="none">
              <a:solidFill>
                <a:srgbClr val="7F7F7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8" name="Google Shape;5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57588" y="5780138"/>
            <a:ext cx="2100001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2"/>
          <p:cNvSpPr txBox="1"/>
          <p:nvPr/>
        </p:nvSpPr>
        <p:spPr>
          <a:xfrm>
            <a:off x="690770" y="1575904"/>
            <a:ext cx="10571922" cy="4417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"/>
          <p:cNvSpPr txBox="1"/>
          <p:nvPr/>
        </p:nvSpPr>
        <p:spPr>
          <a:xfrm>
            <a:off x="1639966" y="1168400"/>
            <a:ext cx="10209134" cy="4848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"/>
          <p:cNvSpPr txBox="1"/>
          <p:nvPr/>
        </p:nvSpPr>
        <p:spPr>
          <a:xfrm>
            <a:off x="566531" y="1281795"/>
            <a:ext cx="10813268" cy="4261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92463" y="987988"/>
            <a:ext cx="7398549" cy="520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0"/>
          <p:cNvSpPr txBox="1"/>
          <p:nvPr/>
        </p:nvSpPr>
        <p:spPr>
          <a:xfrm>
            <a:off x="3521869" y="692562"/>
            <a:ext cx="4789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CONTENTS</a:t>
            </a:r>
            <a:endParaRPr sz="1400" b="0" i="0" u="none" strike="noStrike" cap="none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" name="Google Shape;68;p20"/>
          <p:cNvSpPr txBox="1"/>
          <p:nvPr/>
        </p:nvSpPr>
        <p:spPr>
          <a:xfrm>
            <a:off x="434411" y="6230138"/>
            <a:ext cx="4789808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7F7F7F"/>
                </a:solidFill>
                <a:latin typeface="Inter"/>
                <a:ea typeface="Inter"/>
                <a:cs typeface="Inter"/>
                <a:sym typeface="Inter"/>
              </a:rPr>
              <a:t>Dept of Computer Science &amp; Engineering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Open Sans"/>
              <a:buNone/>
            </a:pPr>
            <a:endParaRPr sz="1800" b="0" i="0" u="none" strike="noStrike" cap="none">
              <a:solidFill>
                <a:srgbClr val="7F7F7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9" name="Google Shape;69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57588" y="5780138"/>
            <a:ext cx="2100001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20"/>
          <p:cNvSpPr txBox="1"/>
          <p:nvPr/>
        </p:nvSpPr>
        <p:spPr>
          <a:xfrm>
            <a:off x="690770" y="1575904"/>
            <a:ext cx="10571922" cy="4417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0"/>
          <p:cNvSpPr txBox="1"/>
          <p:nvPr/>
        </p:nvSpPr>
        <p:spPr>
          <a:xfrm>
            <a:off x="812202" y="1537902"/>
            <a:ext cx="10209134" cy="4848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0"/>
          <p:cNvSpPr txBox="1"/>
          <p:nvPr/>
        </p:nvSpPr>
        <p:spPr>
          <a:xfrm>
            <a:off x="208068" y="1575904"/>
            <a:ext cx="10813268" cy="559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rPr>
              <a:t>Introduction</a:t>
            </a:r>
            <a:endParaRPr sz="2000" b="1" i="0" u="none" strike="noStrike" cap="none" dirty="0">
              <a:solidFill>
                <a:schemeClr val="accent4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smtClean="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rPr>
              <a:t>Objectives</a:t>
            </a:r>
          </a:p>
          <a:p>
            <a:pPr marL="45720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smtClean="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rPr>
              <a:t>Dataset</a:t>
            </a:r>
            <a:endParaRPr sz="2000" b="1" i="0" u="none" strike="noStrike" cap="none" dirty="0">
              <a:solidFill>
                <a:schemeClr val="accent4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rPr>
              <a:t>Model Architecture </a:t>
            </a:r>
            <a:r>
              <a:rPr lang="en-US" sz="2000" b="1" i="0" u="none" strike="noStrike" cap="none" dirty="0" smtClean="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rPr>
              <a:t>Overview</a:t>
            </a:r>
          </a:p>
          <a:p>
            <a:pPr marL="45720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smtClean="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rPr>
              <a:t>Knowledge </a:t>
            </a:r>
            <a:r>
              <a:rPr lang="en-US" sz="2000" b="1" i="0" u="none" strike="noStrike" cap="none" dirty="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rPr>
              <a:t>Distillation </a:t>
            </a:r>
            <a:r>
              <a:rPr lang="en-US" sz="2000" b="1" i="0" u="none" strike="noStrike" cap="none" dirty="0" smtClean="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rPr>
              <a:t>Process</a:t>
            </a:r>
          </a:p>
          <a:p>
            <a:pPr marL="45720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smtClean="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rPr>
              <a:t>Results</a:t>
            </a:r>
            <a:endParaRPr sz="2000" dirty="0"/>
          </a:p>
          <a:p>
            <a:pPr marL="45720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smtClean="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rPr>
              <a:t>Conclusion</a:t>
            </a:r>
            <a:endParaRPr sz="2000" b="1" i="0" u="none" strike="noStrike" cap="none" dirty="0">
              <a:solidFill>
                <a:schemeClr val="accent4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2"/>
          <p:cNvSpPr txBox="1"/>
          <p:nvPr/>
        </p:nvSpPr>
        <p:spPr>
          <a:xfrm>
            <a:off x="3521869" y="891612"/>
            <a:ext cx="47898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7367"/>
                </a:solidFill>
                <a:latin typeface="Inter"/>
                <a:ea typeface="Inter"/>
                <a:cs typeface="Inter"/>
                <a:sym typeface="Inter"/>
              </a:rPr>
              <a:t>Introduction</a:t>
            </a:r>
            <a:endParaRPr sz="1400" b="0" i="0" u="none" strike="noStrike" cap="none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8" name="Google Shape;78;p22"/>
          <p:cNvSpPr txBox="1"/>
          <p:nvPr/>
        </p:nvSpPr>
        <p:spPr>
          <a:xfrm>
            <a:off x="434411" y="6230138"/>
            <a:ext cx="4789808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7F7F7F"/>
                </a:solidFill>
                <a:latin typeface="Inter"/>
                <a:ea typeface="Inter"/>
                <a:cs typeface="Inter"/>
                <a:sym typeface="Inter"/>
              </a:rPr>
              <a:t>Dept of Computer Science &amp; Engineering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Open Sans"/>
              <a:buNone/>
            </a:pPr>
            <a:endParaRPr sz="1800" b="0" i="0" u="none" strike="noStrike" cap="none">
              <a:solidFill>
                <a:srgbClr val="7F7F7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9" name="Google Shape;79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57588" y="5780138"/>
            <a:ext cx="2100001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22"/>
          <p:cNvSpPr txBox="1"/>
          <p:nvPr/>
        </p:nvSpPr>
        <p:spPr>
          <a:xfrm>
            <a:off x="690770" y="1575904"/>
            <a:ext cx="10571922" cy="4417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22"/>
          <p:cNvSpPr txBox="1"/>
          <p:nvPr/>
        </p:nvSpPr>
        <p:spPr>
          <a:xfrm>
            <a:off x="812202" y="1537902"/>
            <a:ext cx="10209134" cy="4848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2"/>
          <p:cNvSpPr txBox="1"/>
          <p:nvPr/>
        </p:nvSpPr>
        <p:spPr>
          <a:xfrm>
            <a:off x="1639966" y="1168400"/>
            <a:ext cx="10209134" cy="4848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22"/>
          <p:cNvSpPr txBox="1"/>
          <p:nvPr/>
        </p:nvSpPr>
        <p:spPr>
          <a:xfrm>
            <a:off x="510135" y="2014993"/>
            <a:ext cx="10813268" cy="4261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High-quality images are vital in fields like photography, medical imaging, and</a:t>
            </a:r>
            <a:endParaRPr dirty="0"/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dirty="0" smtClean="0">
                <a:latin typeface="Times New Roman"/>
                <a:ea typeface="Times New Roman"/>
                <a:cs typeface="Times New Roman"/>
                <a:sym typeface="Times New Roman"/>
              </a:rPr>
              <a:t>Editing process</a:t>
            </a:r>
            <a:r>
              <a:rPr lang="en-US" sz="2300" b="0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-US" sz="23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However, images often lose clarity due to compression, low</a:t>
            </a:r>
            <a:endParaRPr dirty="0"/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resolution, or noise. This project uses knowledge distillation to improve image</a:t>
            </a:r>
            <a:endParaRPr dirty="0"/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sharpness, where a large teacher model trains a smaller, faster student model to</a:t>
            </a:r>
            <a:endParaRPr dirty="0"/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enhance blurred images efficiently. </a:t>
            </a:r>
            <a:endParaRPr sz="23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3"/>
          <p:cNvSpPr txBox="1"/>
          <p:nvPr/>
        </p:nvSpPr>
        <p:spPr>
          <a:xfrm>
            <a:off x="3581831" y="658361"/>
            <a:ext cx="47898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 dirty="0">
                <a:solidFill>
                  <a:srgbClr val="007367"/>
                </a:solidFill>
                <a:latin typeface="Inter"/>
                <a:ea typeface="Inter"/>
                <a:cs typeface="Inter"/>
                <a:sym typeface="Inter"/>
              </a:rPr>
              <a:t>Objective</a:t>
            </a:r>
            <a:endParaRPr sz="1400" b="0" i="0" u="none" strike="noStrike" cap="none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" name="Google Shape;89;p23"/>
          <p:cNvSpPr txBox="1"/>
          <p:nvPr/>
        </p:nvSpPr>
        <p:spPr>
          <a:xfrm>
            <a:off x="434411" y="6230138"/>
            <a:ext cx="4789808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7F7F7F"/>
                </a:solidFill>
                <a:latin typeface="Inter"/>
                <a:ea typeface="Inter"/>
                <a:cs typeface="Inter"/>
                <a:sym typeface="Inter"/>
              </a:rPr>
              <a:t>Dept of Computer Science &amp; Engineering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Open Sans"/>
              <a:buNone/>
            </a:pPr>
            <a:endParaRPr sz="1800" b="0" i="0" u="none" strike="noStrike" cap="none">
              <a:solidFill>
                <a:srgbClr val="7F7F7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90" name="Google Shape;90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57588" y="5780138"/>
            <a:ext cx="2100001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23"/>
          <p:cNvSpPr txBox="1"/>
          <p:nvPr/>
        </p:nvSpPr>
        <p:spPr>
          <a:xfrm>
            <a:off x="690770" y="1575904"/>
            <a:ext cx="10571922" cy="4417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3"/>
          <p:cNvSpPr txBox="1"/>
          <p:nvPr/>
        </p:nvSpPr>
        <p:spPr>
          <a:xfrm>
            <a:off x="812202" y="1537902"/>
            <a:ext cx="10209134" cy="4848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3"/>
          <p:cNvSpPr txBox="1"/>
          <p:nvPr/>
        </p:nvSpPr>
        <p:spPr>
          <a:xfrm>
            <a:off x="1639966" y="1168400"/>
            <a:ext cx="10209134" cy="4848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3"/>
          <p:cNvSpPr txBox="1"/>
          <p:nvPr/>
        </p:nvSpPr>
        <p:spPr>
          <a:xfrm>
            <a:off x="570097" y="1793518"/>
            <a:ext cx="10813268" cy="4261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 a lightweight image sharpening model that enhances blurred images efficiently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knowledge distillation to transfer learning from a large teacher model (</a:t>
            </a:r>
            <a:r>
              <a:rPr lang="en-US" alt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SwinIR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to a smaller CNN model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Achieve a Structural Similarity Index (SSIM) score above 0.9 for high image quality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 txBox="1"/>
          <p:nvPr/>
        </p:nvSpPr>
        <p:spPr>
          <a:xfrm>
            <a:off x="3581831" y="419487"/>
            <a:ext cx="4789800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 dirty="0">
                <a:solidFill>
                  <a:srgbClr val="007367"/>
                </a:solidFill>
                <a:latin typeface="Inter"/>
                <a:ea typeface="Inter"/>
                <a:cs typeface="Inter"/>
                <a:sym typeface="Inter"/>
              </a:rPr>
              <a:t>Model Architecture Overview</a:t>
            </a:r>
            <a:endParaRPr sz="1400" b="0" i="0" u="none" strike="noStrike" cap="none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1" name="Google Shape;111;p3"/>
          <p:cNvSpPr txBox="1"/>
          <p:nvPr/>
        </p:nvSpPr>
        <p:spPr>
          <a:xfrm>
            <a:off x="126298" y="6356992"/>
            <a:ext cx="4789808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7F7F7F"/>
                </a:solidFill>
                <a:latin typeface="Inter"/>
                <a:ea typeface="Inter"/>
                <a:cs typeface="Inter"/>
                <a:sym typeface="Inter"/>
              </a:rPr>
              <a:t>Dept of Computer Science &amp; Engineering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Open Sans"/>
              <a:buNone/>
            </a:pPr>
            <a:endParaRPr sz="1800" b="0" i="0" u="none" strike="noStrike" cap="none">
              <a:solidFill>
                <a:srgbClr val="7F7F7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2" name="Google Shape;112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57588" y="5780138"/>
            <a:ext cx="2100001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3"/>
          <p:cNvSpPr txBox="1"/>
          <p:nvPr/>
        </p:nvSpPr>
        <p:spPr>
          <a:xfrm>
            <a:off x="690770" y="1575904"/>
            <a:ext cx="10571922" cy="4417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812202" y="1537902"/>
            <a:ext cx="10209134" cy="4848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1639966" y="1168400"/>
            <a:ext cx="10209134" cy="4848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570097" y="1878849"/>
            <a:ext cx="10813268" cy="4261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uses two models — a teacher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SwinIR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a student (lightweight CNN).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models are based on the Convolutional Neural Network (CNN) algorithm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ctr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CNN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CNNs are deep learning models specially designed to work with images.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They detect and learn features like edges, textures, and patterns using filters.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CNNs are widely used in image processing tasks like sharpening, 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to improve resolution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this project, CNN helps the model analyze blurred images and reconstruct sharp, detailed versions efficiently.</a:t>
            </a:r>
          </a:p>
          <a:p>
            <a:pPr algn="ctr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 txBox="1"/>
          <p:nvPr/>
        </p:nvSpPr>
        <p:spPr>
          <a:xfrm>
            <a:off x="3141118" y="435460"/>
            <a:ext cx="579265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 dirty="0">
                <a:solidFill>
                  <a:srgbClr val="007367"/>
                </a:solidFill>
                <a:latin typeface="Inter"/>
                <a:ea typeface="Inter"/>
                <a:cs typeface="Inter"/>
                <a:sym typeface="Inter"/>
              </a:rPr>
              <a:t>Knowledge Distillation Process</a:t>
            </a:r>
            <a:endParaRPr sz="1400" b="0" i="0" u="none" strike="noStrike" cap="none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5" name="Google Shape;145;p25"/>
          <p:cNvSpPr txBox="1"/>
          <p:nvPr/>
        </p:nvSpPr>
        <p:spPr>
          <a:xfrm>
            <a:off x="126298" y="6356992"/>
            <a:ext cx="4789808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7F7F7F"/>
                </a:solidFill>
                <a:latin typeface="Inter"/>
                <a:ea typeface="Inter"/>
                <a:cs typeface="Inter"/>
                <a:sym typeface="Inter"/>
              </a:rPr>
              <a:t>Dept of Computer Science &amp; Engineering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Open Sans"/>
              <a:buNone/>
            </a:pPr>
            <a:endParaRPr sz="1800" b="0" i="0" u="none" strike="noStrike" cap="none">
              <a:solidFill>
                <a:srgbClr val="7F7F7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46" name="Google Shape;146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57588" y="5780138"/>
            <a:ext cx="2100001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5"/>
          <p:cNvSpPr txBox="1"/>
          <p:nvPr/>
        </p:nvSpPr>
        <p:spPr>
          <a:xfrm>
            <a:off x="690770" y="1575904"/>
            <a:ext cx="10571922" cy="4417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5"/>
          <p:cNvSpPr txBox="1"/>
          <p:nvPr/>
        </p:nvSpPr>
        <p:spPr>
          <a:xfrm>
            <a:off x="812202" y="1537902"/>
            <a:ext cx="10209134" cy="4848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5"/>
          <p:cNvSpPr txBox="1"/>
          <p:nvPr/>
        </p:nvSpPr>
        <p:spPr>
          <a:xfrm>
            <a:off x="812202" y="1871148"/>
            <a:ext cx="10450490" cy="4261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Teacher Model (</a:t>
            </a:r>
            <a:r>
              <a:rPr lang="en-US" alt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SwinIR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 A large and powerful image restoration model with deep layers and strong learning ability.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Model (Lightweight CNN): A smaller, faster version trained to mimic the teacher’s performance.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they work: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teacher model sharpens blurred images and produces high-quality outputs.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student model learns from both the original image and the teacher’s results.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process is called Knowledge Distillation, where the teacher transfers its knowledge to the student.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final student model achieves high-quality sharpening with less computation and real-time performance.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nowledge Distillati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2343" y="1572194"/>
            <a:ext cx="6024898" cy="4808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4" name="Google Shape;144;p25"/>
          <p:cNvSpPr txBox="1"/>
          <p:nvPr/>
        </p:nvSpPr>
        <p:spPr>
          <a:xfrm>
            <a:off x="3129273" y="354855"/>
            <a:ext cx="579265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 dirty="0">
                <a:solidFill>
                  <a:srgbClr val="007367"/>
                </a:solidFill>
                <a:latin typeface="Inter"/>
                <a:ea typeface="Inter"/>
                <a:cs typeface="Inter"/>
                <a:sym typeface="Inter"/>
              </a:rPr>
              <a:t>Knowledge Distillation Process</a:t>
            </a:r>
            <a:endParaRPr sz="1400" b="0" i="0" u="none" strike="noStrike" cap="none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5" name="Google Shape;145;p25"/>
          <p:cNvSpPr txBox="1"/>
          <p:nvPr/>
        </p:nvSpPr>
        <p:spPr>
          <a:xfrm>
            <a:off x="126298" y="6356992"/>
            <a:ext cx="4789808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7F7F7F"/>
                </a:solidFill>
                <a:latin typeface="Inter"/>
                <a:ea typeface="Inter"/>
                <a:cs typeface="Inter"/>
                <a:sym typeface="Inter"/>
              </a:rPr>
              <a:t>Dept of Computer Science &amp; Engineering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Open Sans"/>
              <a:buNone/>
            </a:pPr>
            <a:endParaRPr sz="1800" b="0" i="0" u="none" strike="noStrike" cap="none">
              <a:solidFill>
                <a:srgbClr val="7F7F7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46" name="Google Shape;146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57588" y="5780138"/>
            <a:ext cx="2100001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 txBox="1"/>
          <p:nvPr/>
        </p:nvSpPr>
        <p:spPr>
          <a:xfrm>
            <a:off x="376930" y="1461712"/>
            <a:ext cx="5407316" cy="4261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1" name="Google Shape;151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8777" y="1572195"/>
            <a:ext cx="5796894" cy="480802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87933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/>
          <p:nvPr/>
        </p:nvSpPr>
        <p:spPr>
          <a:xfrm>
            <a:off x="3521869" y="239615"/>
            <a:ext cx="47898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 dirty="0" smtClean="0">
                <a:solidFill>
                  <a:srgbClr val="007367"/>
                </a:solidFill>
                <a:latin typeface="Inter"/>
                <a:ea typeface="Inter"/>
                <a:cs typeface="Inter"/>
                <a:sym typeface="Inter"/>
              </a:rPr>
              <a:t>About </a:t>
            </a:r>
            <a:r>
              <a:rPr lang="en-US" sz="3600" b="1" i="0" u="none" strike="noStrike" cap="none" dirty="0" err="1" smtClean="0">
                <a:solidFill>
                  <a:srgbClr val="007367"/>
                </a:solidFill>
                <a:latin typeface="Inter"/>
                <a:ea typeface="Inter"/>
                <a:cs typeface="Inter"/>
                <a:sym typeface="Inter"/>
              </a:rPr>
              <a:t>DataSet</a:t>
            </a:r>
            <a:r>
              <a:rPr lang="en-US" sz="3600" b="1" i="0" u="none" strike="noStrike" cap="none" dirty="0" smtClean="0">
                <a:solidFill>
                  <a:srgbClr val="007367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8" name="Google Shape;158;p26"/>
          <p:cNvSpPr txBox="1"/>
          <p:nvPr/>
        </p:nvSpPr>
        <p:spPr>
          <a:xfrm>
            <a:off x="126298" y="6356992"/>
            <a:ext cx="4789808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7F7F7F"/>
                </a:solidFill>
                <a:latin typeface="Inter"/>
                <a:ea typeface="Inter"/>
                <a:cs typeface="Inter"/>
                <a:sym typeface="Inter"/>
              </a:rPr>
              <a:t>Dept of Computer Science &amp; Engineering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Open Sans"/>
              <a:buNone/>
            </a:pPr>
            <a:endParaRPr sz="1800" b="0" i="0" u="none" strike="noStrike" cap="none">
              <a:solidFill>
                <a:srgbClr val="7F7F7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59" name="Google Shape;159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57588" y="5780138"/>
            <a:ext cx="2100001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6"/>
          <p:cNvSpPr txBox="1"/>
          <p:nvPr/>
        </p:nvSpPr>
        <p:spPr>
          <a:xfrm>
            <a:off x="690770" y="1575904"/>
            <a:ext cx="10571922" cy="4417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6"/>
          <p:cNvSpPr txBox="1"/>
          <p:nvPr/>
        </p:nvSpPr>
        <p:spPr>
          <a:xfrm>
            <a:off x="812202" y="1537902"/>
            <a:ext cx="10209134" cy="4848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6"/>
          <p:cNvSpPr txBox="1"/>
          <p:nvPr/>
        </p:nvSpPr>
        <p:spPr>
          <a:xfrm>
            <a:off x="690770" y="920648"/>
            <a:ext cx="10813268" cy="4261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The project uses the DIV2K dataset with 800 high-resolution images. </a:t>
            </a:r>
            <a:endParaRPr lang="en-US" sz="2400" i="0" u="none" strike="noStrike" cap="none" dirty="0" smtClean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6593" y="1643924"/>
            <a:ext cx="8240275" cy="449642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7"/>
          <p:cNvSpPr txBox="1"/>
          <p:nvPr/>
        </p:nvSpPr>
        <p:spPr>
          <a:xfrm>
            <a:off x="126298" y="6356992"/>
            <a:ext cx="4789808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7F7F7F"/>
                </a:solidFill>
                <a:latin typeface="Inter"/>
                <a:ea typeface="Inter"/>
                <a:cs typeface="Inter"/>
                <a:sym typeface="Inter"/>
              </a:rPr>
              <a:t>Dept of Computer Science &amp; Engineering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Open Sans"/>
              <a:buNone/>
            </a:pPr>
            <a:endParaRPr sz="1800" b="0" i="0" u="none" strike="noStrike" cap="none">
              <a:solidFill>
                <a:srgbClr val="7F7F7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70" name="Google Shape;170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57588" y="5780138"/>
            <a:ext cx="2100001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7"/>
          <p:cNvSpPr txBox="1"/>
          <p:nvPr/>
        </p:nvSpPr>
        <p:spPr>
          <a:xfrm>
            <a:off x="690770" y="1575904"/>
            <a:ext cx="10571922" cy="4417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7"/>
          <p:cNvSpPr txBox="1"/>
          <p:nvPr/>
        </p:nvSpPr>
        <p:spPr>
          <a:xfrm>
            <a:off x="812202" y="1537902"/>
            <a:ext cx="10209134" cy="4848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7"/>
          <p:cNvSpPr txBox="1"/>
          <p:nvPr/>
        </p:nvSpPr>
        <p:spPr>
          <a:xfrm>
            <a:off x="1739462" y="1327018"/>
            <a:ext cx="10209134" cy="4848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7"/>
          <p:cNvSpPr txBox="1"/>
          <p:nvPr/>
        </p:nvSpPr>
        <p:spPr>
          <a:xfrm>
            <a:off x="570097" y="1212208"/>
            <a:ext cx="10813268" cy="4261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3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9462" y="806089"/>
            <a:ext cx="8154538" cy="476316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207622" y="3043645"/>
            <a:ext cx="7276012" cy="30044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5125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1"/>
          <p:cNvSpPr txBox="1"/>
          <p:nvPr/>
        </p:nvSpPr>
        <p:spPr>
          <a:xfrm>
            <a:off x="3080402" y="632027"/>
            <a:ext cx="5792658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 dirty="0">
                <a:solidFill>
                  <a:srgbClr val="007367"/>
                </a:solidFill>
                <a:latin typeface="Inter"/>
                <a:ea typeface="Inter"/>
                <a:cs typeface="Inter"/>
                <a:sym typeface="Inter"/>
              </a:rPr>
              <a:t>Conclusion</a:t>
            </a:r>
            <a:endParaRPr sz="1400" b="0" i="0" u="none" strike="noStrike" cap="none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5" name="Google Shape;215;p31"/>
          <p:cNvSpPr txBox="1"/>
          <p:nvPr/>
        </p:nvSpPr>
        <p:spPr>
          <a:xfrm>
            <a:off x="126298" y="6356992"/>
            <a:ext cx="4789808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7F7F7F"/>
                </a:solidFill>
                <a:latin typeface="Inter"/>
                <a:ea typeface="Inter"/>
                <a:cs typeface="Inter"/>
                <a:sym typeface="Inter"/>
              </a:rPr>
              <a:t>Dept of Computer Science &amp; Engineering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Open Sans"/>
              <a:buNone/>
            </a:pPr>
            <a:endParaRPr sz="1800" b="0" i="0" u="none" strike="noStrike" cap="none">
              <a:solidFill>
                <a:srgbClr val="7F7F7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16" name="Google Shape;216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57588" y="5780138"/>
            <a:ext cx="2100001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1"/>
          <p:cNvSpPr txBox="1"/>
          <p:nvPr/>
        </p:nvSpPr>
        <p:spPr>
          <a:xfrm>
            <a:off x="690770" y="1575904"/>
            <a:ext cx="10571922" cy="4417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31"/>
          <p:cNvSpPr txBox="1"/>
          <p:nvPr/>
        </p:nvSpPr>
        <p:spPr>
          <a:xfrm>
            <a:off x="812202" y="1537902"/>
            <a:ext cx="10209134" cy="4848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31"/>
          <p:cNvSpPr txBox="1"/>
          <p:nvPr/>
        </p:nvSpPr>
        <p:spPr>
          <a:xfrm>
            <a:off x="1639966" y="1168400"/>
            <a:ext cx="10209134" cy="4848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31"/>
          <p:cNvSpPr txBox="1"/>
          <p:nvPr/>
        </p:nvSpPr>
        <p:spPr>
          <a:xfrm>
            <a:off x="570097" y="1575904"/>
            <a:ext cx="10813268" cy="4261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project successfully built a lightweight image sharpening model using knowledge distillation.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teacher 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guided 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student 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achieve high-quality results with much lower computation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It 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performs well on different types of images such as text, nature, and faces, producing clear and sharp outputs.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Overall, this system provides a fast, accurate, and efficient solution for photo 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editing, 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mobile 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etc…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/>
          <p:cNvSpPr txBox="1"/>
          <p:nvPr/>
        </p:nvSpPr>
        <p:spPr>
          <a:xfrm>
            <a:off x="2881925" y="475753"/>
            <a:ext cx="5792658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007367"/>
                </a:solidFill>
                <a:latin typeface="Inter"/>
                <a:ea typeface="Inter"/>
                <a:cs typeface="Inter"/>
                <a:sym typeface="Inter"/>
              </a:rPr>
              <a:t>References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6" name="Google Shape;226;p32"/>
          <p:cNvSpPr txBox="1"/>
          <p:nvPr/>
        </p:nvSpPr>
        <p:spPr>
          <a:xfrm>
            <a:off x="126298" y="6356992"/>
            <a:ext cx="4789808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7F7F7F"/>
                </a:solidFill>
                <a:latin typeface="Inter"/>
                <a:ea typeface="Inter"/>
                <a:cs typeface="Inter"/>
                <a:sym typeface="Inter"/>
              </a:rPr>
              <a:t>Dept of Computer Science &amp; Engineering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Open Sans"/>
              <a:buNone/>
            </a:pPr>
            <a:endParaRPr sz="1800" b="0" i="0" u="none" strike="noStrike" cap="none">
              <a:solidFill>
                <a:srgbClr val="7F7F7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27" name="Google Shape;227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57588" y="5780138"/>
            <a:ext cx="2100001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32"/>
          <p:cNvSpPr txBox="1"/>
          <p:nvPr/>
        </p:nvSpPr>
        <p:spPr>
          <a:xfrm>
            <a:off x="690770" y="1575904"/>
            <a:ext cx="10571922" cy="4417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32"/>
          <p:cNvSpPr txBox="1"/>
          <p:nvPr/>
        </p:nvSpPr>
        <p:spPr>
          <a:xfrm>
            <a:off x="812202" y="1537902"/>
            <a:ext cx="10209134" cy="4848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32"/>
          <p:cNvSpPr txBox="1"/>
          <p:nvPr/>
        </p:nvSpPr>
        <p:spPr>
          <a:xfrm>
            <a:off x="1639966" y="1168400"/>
            <a:ext cx="10209134" cy="4848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32"/>
          <p:cNvSpPr txBox="1"/>
          <p:nvPr/>
        </p:nvSpPr>
        <p:spPr>
          <a:xfrm>
            <a:off x="570097" y="1314884"/>
            <a:ext cx="10813268" cy="4261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•"/>
            </a:pPr>
            <a:r>
              <a:rPr lang="en-US" sz="2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Zhang, Kai, et al. "SwinIR: Image Restoration Using Swin Transformer." arXiv:2018.10257, 2021.</a:t>
            </a:r>
            <a:endParaRPr/>
          </a:p>
          <a:p>
            <a:pPr marL="285750" marR="0" lvl="0" indent="-139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•"/>
            </a:pPr>
            <a:r>
              <a:rPr lang="en-US" sz="2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Hinton, Geoffrey, et al. "Distilling the Knowledge in a Neural Network." arXiv:2018.102531, 2015</a:t>
            </a:r>
            <a:endParaRPr/>
          </a:p>
          <a:p>
            <a:pPr marL="285750" marR="0" lvl="0" indent="-139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•"/>
            </a:pPr>
            <a:r>
              <a:rPr lang="en-US" sz="2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Wang, Zhou, et al. "Image Quality Assessment: From Error Visibility to Structural Similarity." IEEE Transactions on Image Processing, vol. 13, no. 4, 2004.</a:t>
            </a:r>
            <a:endParaRPr/>
          </a:p>
          <a:p>
            <a:pPr marL="285750" marR="0" lvl="0" indent="-139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•"/>
            </a:pPr>
            <a:r>
              <a:rPr lang="en-US" sz="2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Paszke, Adam, et al. "PyTorch: An Imperative Style, High-Performance Deep Learning Library." NeurIPS, 2019.</a:t>
            </a:r>
            <a:endParaRPr/>
          </a:p>
          <a:p>
            <a:pPr marL="285750" marR="0" lvl="0" indent="-139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•"/>
            </a:pPr>
            <a:r>
              <a:rPr lang="en-US" sz="2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DIV2K Dataset: https://data.vision.ee.ethz.ch/cvl/DIV2K/</a:t>
            </a:r>
            <a:endParaRPr sz="23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5"/>
          <p:cNvSpPr txBox="1"/>
          <p:nvPr/>
        </p:nvSpPr>
        <p:spPr>
          <a:xfrm>
            <a:off x="707572" y="3001566"/>
            <a:ext cx="4706257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-US" sz="5000" b="1" i="0" u="none" strike="noStrike" cap="none">
                <a:solidFill>
                  <a:srgbClr val="007367"/>
                </a:solidFill>
                <a:latin typeface="Inter"/>
                <a:ea typeface="Inter"/>
                <a:cs typeface="Inter"/>
                <a:sym typeface="Inter"/>
              </a:rPr>
              <a:t>Thank You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7" name="Google Shape;237;p5"/>
          <p:cNvSpPr/>
          <p:nvPr/>
        </p:nvSpPr>
        <p:spPr>
          <a:xfrm>
            <a:off x="10692817" y="360212"/>
            <a:ext cx="284482" cy="284482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23672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38" name="Google Shape;238;p5"/>
          <p:cNvSpPr/>
          <p:nvPr/>
        </p:nvSpPr>
        <p:spPr>
          <a:xfrm>
            <a:off x="10755442" y="423468"/>
            <a:ext cx="159232" cy="157970"/>
          </a:xfrm>
          <a:custGeom>
            <a:avLst/>
            <a:gdLst/>
            <a:ahLst/>
            <a:cxnLst/>
            <a:rect l="l" t="t" r="r" b="b"/>
            <a:pathLst>
              <a:path w="444" h="443" extrusionOk="0">
                <a:moveTo>
                  <a:pt x="257" y="257"/>
                </a:moveTo>
                <a:lnTo>
                  <a:pt x="257" y="257"/>
                </a:lnTo>
                <a:cubicBezTo>
                  <a:pt x="222" y="292"/>
                  <a:pt x="177" y="327"/>
                  <a:pt x="160" y="310"/>
                </a:cubicBezTo>
                <a:cubicBezTo>
                  <a:pt x="133" y="283"/>
                  <a:pt x="115" y="265"/>
                  <a:pt x="62" y="310"/>
                </a:cubicBezTo>
                <a:cubicBezTo>
                  <a:pt x="0" y="354"/>
                  <a:pt x="44" y="389"/>
                  <a:pt x="71" y="407"/>
                </a:cubicBezTo>
                <a:cubicBezTo>
                  <a:pt x="97" y="442"/>
                  <a:pt x="204" y="416"/>
                  <a:pt x="310" y="310"/>
                </a:cubicBezTo>
                <a:cubicBezTo>
                  <a:pt x="416" y="204"/>
                  <a:pt x="443" y="97"/>
                  <a:pt x="416" y="61"/>
                </a:cubicBezTo>
                <a:cubicBezTo>
                  <a:pt x="390" y="35"/>
                  <a:pt x="363" y="0"/>
                  <a:pt x="319" y="53"/>
                </a:cubicBezTo>
                <a:cubicBezTo>
                  <a:pt x="275" y="106"/>
                  <a:pt x="293" y="123"/>
                  <a:pt x="319" y="151"/>
                </a:cubicBezTo>
                <a:cubicBezTo>
                  <a:pt x="337" y="167"/>
                  <a:pt x="302" y="212"/>
                  <a:pt x="257" y="257"/>
                </a:cubicBezTo>
              </a:path>
            </a:pathLst>
          </a:custGeom>
          <a:solidFill>
            <a:srgbClr val="017069"/>
          </a:solidFill>
          <a:ln>
            <a:noFill/>
          </a:ln>
        </p:spPr>
        <p:txBody>
          <a:bodyPr spcFirstLastPara="1" wrap="square" lIns="34275" tIns="17125" rIns="34275" bIns="171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23672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39" name="Google Shape;239;p5"/>
          <p:cNvSpPr/>
          <p:nvPr/>
        </p:nvSpPr>
        <p:spPr>
          <a:xfrm>
            <a:off x="11108103" y="360212"/>
            <a:ext cx="284482" cy="284482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23672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0" name="Google Shape;240;p5"/>
          <p:cNvSpPr/>
          <p:nvPr/>
        </p:nvSpPr>
        <p:spPr>
          <a:xfrm>
            <a:off x="11173901" y="455187"/>
            <a:ext cx="152886" cy="94532"/>
          </a:xfrm>
          <a:custGeom>
            <a:avLst/>
            <a:gdLst/>
            <a:ahLst/>
            <a:cxnLst/>
            <a:rect l="l" t="t" r="r" b="b"/>
            <a:pathLst>
              <a:path w="461" h="285" extrusionOk="0">
                <a:moveTo>
                  <a:pt x="18" y="27"/>
                </a:moveTo>
                <a:lnTo>
                  <a:pt x="18" y="27"/>
                </a:lnTo>
                <a:cubicBezTo>
                  <a:pt x="35" y="35"/>
                  <a:pt x="203" y="125"/>
                  <a:pt x="203" y="125"/>
                </a:cubicBezTo>
                <a:cubicBezTo>
                  <a:pt x="212" y="133"/>
                  <a:pt x="221" y="133"/>
                  <a:pt x="231" y="133"/>
                </a:cubicBezTo>
                <a:cubicBezTo>
                  <a:pt x="239" y="133"/>
                  <a:pt x="248" y="133"/>
                  <a:pt x="248" y="125"/>
                </a:cubicBezTo>
                <a:cubicBezTo>
                  <a:pt x="256" y="125"/>
                  <a:pt x="425" y="35"/>
                  <a:pt x="434" y="27"/>
                </a:cubicBezTo>
                <a:cubicBezTo>
                  <a:pt x="452" y="18"/>
                  <a:pt x="460" y="0"/>
                  <a:pt x="443" y="0"/>
                </a:cubicBezTo>
                <a:cubicBezTo>
                  <a:pt x="18" y="0"/>
                  <a:pt x="18" y="0"/>
                  <a:pt x="18" y="0"/>
                </a:cubicBezTo>
                <a:cubicBezTo>
                  <a:pt x="0" y="0"/>
                  <a:pt x="9" y="18"/>
                  <a:pt x="18" y="27"/>
                </a:cubicBezTo>
                <a:close/>
                <a:moveTo>
                  <a:pt x="443" y="80"/>
                </a:moveTo>
                <a:lnTo>
                  <a:pt x="443" y="80"/>
                </a:lnTo>
                <a:cubicBezTo>
                  <a:pt x="434" y="80"/>
                  <a:pt x="256" y="169"/>
                  <a:pt x="248" y="178"/>
                </a:cubicBezTo>
                <a:cubicBezTo>
                  <a:pt x="248" y="178"/>
                  <a:pt x="239" y="178"/>
                  <a:pt x="231" y="178"/>
                </a:cubicBezTo>
                <a:cubicBezTo>
                  <a:pt x="221" y="178"/>
                  <a:pt x="212" y="178"/>
                  <a:pt x="203" y="178"/>
                </a:cubicBezTo>
                <a:cubicBezTo>
                  <a:pt x="194" y="169"/>
                  <a:pt x="27" y="80"/>
                  <a:pt x="18" y="80"/>
                </a:cubicBezTo>
                <a:cubicBezTo>
                  <a:pt x="9" y="72"/>
                  <a:pt x="9" y="80"/>
                  <a:pt x="9" y="80"/>
                </a:cubicBezTo>
                <a:cubicBezTo>
                  <a:pt x="9" y="88"/>
                  <a:pt x="9" y="266"/>
                  <a:pt x="9" y="266"/>
                </a:cubicBezTo>
                <a:cubicBezTo>
                  <a:pt x="9" y="275"/>
                  <a:pt x="18" y="284"/>
                  <a:pt x="35" y="284"/>
                </a:cubicBezTo>
                <a:cubicBezTo>
                  <a:pt x="425" y="284"/>
                  <a:pt x="425" y="284"/>
                  <a:pt x="425" y="284"/>
                </a:cubicBezTo>
                <a:cubicBezTo>
                  <a:pt x="443" y="284"/>
                  <a:pt x="452" y="275"/>
                  <a:pt x="452" y="266"/>
                </a:cubicBezTo>
                <a:cubicBezTo>
                  <a:pt x="452" y="266"/>
                  <a:pt x="452" y="88"/>
                  <a:pt x="452" y="80"/>
                </a:cubicBezTo>
                <a:cubicBezTo>
                  <a:pt x="452" y="80"/>
                  <a:pt x="452" y="72"/>
                  <a:pt x="443" y="80"/>
                </a:cubicBezTo>
                <a:close/>
              </a:path>
            </a:pathLst>
          </a:custGeom>
          <a:solidFill>
            <a:srgbClr val="017069"/>
          </a:solidFill>
          <a:ln>
            <a:noFill/>
          </a:ln>
        </p:spPr>
        <p:txBody>
          <a:bodyPr spcFirstLastPara="1" wrap="square" lIns="34275" tIns="17125" rIns="34275" bIns="171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23672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1" name="Google Shape;241;p5"/>
          <p:cNvSpPr/>
          <p:nvPr/>
        </p:nvSpPr>
        <p:spPr>
          <a:xfrm>
            <a:off x="11523389" y="360212"/>
            <a:ext cx="284482" cy="284482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23672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2" name="Google Shape;242;p5"/>
          <p:cNvSpPr/>
          <p:nvPr/>
        </p:nvSpPr>
        <p:spPr>
          <a:xfrm>
            <a:off x="11624228" y="414630"/>
            <a:ext cx="82804" cy="175646"/>
          </a:xfrm>
          <a:custGeom>
            <a:avLst/>
            <a:gdLst/>
            <a:ahLst/>
            <a:cxnLst/>
            <a:rect l="l" t="t" r="r" b="b"/>
            <a:pathLst>
              <a:path w="232" h="498" extrusionOk="0">
                <a:moveTo>
                  <a:pt x="178" y="0"/>
                </a:moveTo>
                <a:lnTo>
                  <a:pt x="178" y="0"/>
                </a:lnTo>
                <a:cubicBezTo>
                  <a:pt x="213" y="0"/>
                  <a:pt x="222" y="27"/>
                  <a:pt x="222" y="53"/>
                </a:cubicBezTo>
                <a:cubicBezTo>
                  <a:pt x="222" y="80"/>
                  <a:pt x="196" y="115"/>
                  <a:pt x="160" y="115"/>
                </a:cubicBezTo>
                <a:cubicBezTo>
                  <a:pt x="125" y="115"/>
                  <a:pt x="107" y="97"/>
                  <a:pt x="107" y="62"/>
                </a:cubicBezTo>
                <a:cubicBezTo>
                  <a:pt x="107" y="35"/>
                  <a:pt x="134" y="0"/>
                  <a:pt x="178" y="0"/>
                </a:cubicBezTo>
                <a:close/>
                <a:moveTo>
                  <a:pt x="72" y="497"/>
                </a:moveTo>
                <a:lnTo>
                  <a:pt x="72" y="497"/>
                </a:lnTo>
                <a:cubicBezTo>
                  <a:pt x="45" y="497"/>
                  <a:pt x="28" y="478"/>
                  <a:pt x="45" y="407"/>
                </a:cubicBezTo>
                <a:cubicBezTo>
                  <a:pt x="81" y="284"/>
                  <a:pt x="81" y="284"/>
                  <a:pt x="81" y="284"/>
                </a:cubicBezTo>
                <a:cubicBezTo>
                  <a:pt x="81" y="266"/>
                  <a:pt x="81" y="257"/>
                  <a:pt x="81" y="257"/>
                </a:cubicBezTo>
                <a:cubicBezTo>
                  <a:pt x="72" y="257"/>
                  <a:pt x="37" y="275"/>
                  <a:pt x="19" y="284"/>
                </a:cubicBezTo>
                <a:cubicBezTo>
                  <a:pt x="0" y="266"/>
                  <a:pt x="0" y="266"/>
                  <a:pt x="0" y="266"/>
                </a:cubicBezTo>
                <a:cubicBezTo>
                  <a:pt x="63" y="213"/>
                  <a:pt x="143" y="178"/>
                  <a:pt x="169" y="178"/>
                </a:cubicBezTo>
                <a:cubicBezTo>
                  <a:pt x="196" y="178"/>
                  <a:pt x="205" y="213"/>
                  <a:pt x="187" y="257"/>
                </a:cubicBezTo>
                <a:cubicBezTo>
                  <a:pt x="151" y="390"/>
                  <a:pt x="151" y="390"/>
                  <a:pt x="151" y="390"/>
                </a:cubicBezTo>
                <a:cubicBezTo>
                  <a:pt x="151" y="416"/>
                  <a:pt x="151" y="425"/>
                  <a:pt x="160" y="425"/>
                </a:cubicBezTo>
                <a:cubicBezTo>
                  <a:pt x="160" y="425"/>
                  <a:pt x="187" y="407"/>
                  <a:pt x="213" y="390"/>
                </a:cubicBezTo>
                <a:cubicBezTo>
                  <a:pt x="231" y="407"/>
                  <a:pt x="231" y="407"/>
                  <a:pt x="231" y="407"/>
                </a:cubicBezTo>
                <a:cubicBezTo>
                  <a:pt x="169" y="478"/>
                  <a:pt x="98" y="497"/>
                  <a:pt x="72" y="497"/>
                </a:cubicBezTo>
                <a:close/>
              </a:path>
            </a:pathLst>
          </a:custGeom>
          <a:solidFill>
            <a:srgbClr val="017069"/>
          </a:solidFill>
          <a:ln>
            <a:noFill/>
          </a:ln>
        </p:spPr>
        <p:txBody>
          <a:bodyPr spcFirstLastPara="1" wrap="square" lIns="34275" tIns="17125" rIns="34275" bIns="171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23672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3" name="Google Shape;243;p5"/>
          <p:cNvSpPr/>
          <p:nvPr/>
        </p:nvSpPr>
        <p:spPr>
          <a:xfrm>
            <a:off x="783772" y="2945605"/>
            <a:ext cx="899884" cy="52507"/>
          </a:xfrm>
          <a:prstGeom prst="rect">
            <a:avLst/>
          </a:prstGeom>
          <a:solidFill>
            <a:srgbClr val="A582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5"/>
          <p:cNvSpPr txBox="1"/>
          <p:nvPr/>
        </p:nvSpPr>
        <p:spPr>
          <a:xfrm>
            <a:off x="434411" y="6230138"/>
            <a:ext cx="4789808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7F7F7F"/>
                </a:solidFill>
                <a:latin typeface="Inter"/>
                <a:ea typeface="Inter"/>
                <a:cs typeface="Inter"/>
                <a:sym typeface="Inter"/>
              </a:rPr>
              <a:t>Dept of Computer Science &amp; Engineering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Open Sans"/>
              <a:buNone/>
            </a:pPr>
            <a:endParaRPr sz="1800" b="0" i="0" u="none" strike="noStrike" cap="none">
              <a:solidFill>
                <a:srgbClr val="7F7F7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45" name="Google Shape;245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57588" y="5780138"/>
            <a:ext cx="2100001" cy="9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77">
      <a:dk1>
        <a:srgbClr val="282828"/>
      </a:dk1>
      <a:lt1>
        <a:srgbClr val="FFFFFF"/>
      </a:lt1>
      <a:dk2>
        <a:srgbClr val="282828"/>
      </a:dk2>
      <a:lt2>
        <a:srgbClr val="FAFAFA"/>
      </a:lt2>
      <a:accent1>
        <a:srgbClr val="FFC639"/>
      </a:accent1>
      <a:accent2>
        <a:srgbClr val="F29B6B"/>
      </a:accent2>
      <a:accent3>
        <a:srgbClr val="CCD4FB"/>
      </a:accent3>
      <a:accent4>
        <a:srgbClr val="2B7158"/>
      </a:accent4>
      <a:accent5>
        <a:srgbClr val="456AB8"/>
      </a:accent5>
      <a:accent6>
        <a:srgbClr val="363836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605</Words>
  <Application>Microsoft Office PowerPoint</Application>
  <PresentationFormat>Widescreen</PresentationFormat>
  <Paragraphs>77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Inter</vt:lpstr>
      <vt:lpstr>Calibri</vt:lpstr>
      <vt:lpstr>Open Sans</vt:lpstr>
      <vt:lpstr>Play</vt:lpstr>
      <vt:lpstr>Arial</vt:lpstr>
      <vt:lpstr>Plus Jakarta Sans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GITAM</dc:creator>
  <cp:lastModifiedBy>Lenovo</cp:lastModifiedBy>
  <cp:revision>12</cp:revision>
  <dcterms:created xsi:type="dcterms:W3CDTF">2022-05-23T07:15:42Z</dcterms:created>
  <dcterms:modified xsi:type="dcterms:W3CDTF">2025-10-16T13:25:49Z</dcterms:modified>
</cp:coreProperties>
</file>